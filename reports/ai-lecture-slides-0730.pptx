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1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6035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4200" b="1" i="0">
                <a:solidFill>
                  <a:srgbClr val="F4A962"/>
                </a:solidFill>
                <a:latin typeface="Noto Sans TC"/>
              </a:rPr>
              <a:t>找到你的</a:t>
            </a:r>
          </a:p>
          <a:p>
            <a:pPr>
              <a:lnSpc>
                <a:spcPct val="125000"/>
              </a:lnSpc>
            </a:pPr>
            <a:r>
              <a:rPr sz="4200" b="1" i="0">
                <a:solidFill>
                  <a:srgbClr val="F4A962"/>
                </a:solidFill>
                <a:latin typeface="Noto Sans TC"/>
              </a:rPr>
              <a:t>第一位數位員工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46120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E0C9B3"/>
                </a:solidFill>
                <a:latin typeface="Noto Sans TC"/>
              </a:rPr>
              <a:t>看懂卡點，找對方向，給到方法，邀你行動。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0624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 i="0">
                <a:solidFill>
                  <a:srgbClr val="B89A7C"/>
                </a:solidFill>
                <a:latin typeface="Noto Sans TC"/>
              </a:rPr>
              <a:t>日期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F4A962"/>
                </a:solidFill>
                <a:latin typeface="Noto Sans TC"/>
              </a:rPr>
              <a:t>7/30（四）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420624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 i="0">
                <a:solidFill>
                  <a:srgbClr val="B89A7C"/>
                </a:solidFill>
                <a:latin typeface="Noto Sans TC"/>
              </a:rPr>
              <a:t>主講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F4A962"/>
                </a:solidFill>
                <a:latin typeface="Noto Sans TC"/>
              </a:rPr>
              <a:t>馮士維</a:t>
            </a:r>
          </a:p>
        </p:txBody>
      </p:sp>
      <p:pic>
        <p:nvPicPr>
          <p:cNvPr id="6" name="Picture 5" descr="ai-lecture-slides-0730-img01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1005840"/>
            <a:ext cx="323088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28655" y="22860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Noto Sans TC"/>
              </a:rPr>
              <a:t>01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28655" y="22860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Noto Sans TC"/>
              </a:rPr>
              <a:t>02 /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029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1A1A2E"/>
                </a:solidFill>
                <a:latin typeface="Noto Sans TC"/>
              </a:rPr>
              <a:t>什麼是</a:t>
            </a:r>
            <a:r>
              <a:rPr sz="3000" b="1" i="0">
                <a:solidFill>
                  <a:srgbClr val="7C3AED"/>
                </a:solidFill>
                <a:latin typeface="Noto Sans TC"/>
              </a:rPr>
              <a:t>數位員工？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011680"/>
            <a:ext cx="356616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2011680"/>
            <a:ext cx="45000" cy="40233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121408"/>
            <a:ext cx="3236976" cy="3803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0" i="0">
                <a:solidFill>
                  <a:srgbClr val="1A1A2E"/>
                </a:solidFill>
                <a:latin typeface="Noto Sans TC"/>
              </a:rPr>
              <a:t>🧬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A1A2E"/>
                </a:solidFill>
                <a:latin typeface="Noto Sans TC"/>
              </a:rPr>
              <a:t>它記得你的公司，不用你每次重講一遍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Noto Sans TC"/>
              </a:rPr>
              <a:t>跟 GPT 最大的差別，不是功能多寡——是你不用每次打開都重新交代背景。它記得你的客戶、你的報價、你上次做過的決定，站在你這邊看事情，不是兩個腦袋在對話。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56616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2011680"/>
            <a:ext cx="45000" cy="4023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2121408"/>
            <a:ext cx="3236976" cy="3803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0" i="0">
                <a:solidFill>
                  <a:srgbClr val="1A1A2E"/>
                </a:solidFill>
                <a:latin typeface="Noto Sans TC"/>
              </a:rPr>
              <a:t>🛠️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A1A2E"/>
                </a:solidFill>
                <a:latin typeface="Noto Sans TC"/>
              </a:rPr>
              <a:t>接住你現在正卡住的地方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Noto Sans TC"/>
              </a:rPr>
              <a:t>你花最多時間在找資訊、做決策、還是救火？這三件事它都能接手：資訊不用你翻、決策不用你猜、瑣事不用你一直盯著擋。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2011680"/>
            <a:ext cx="356616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83880" y="2011680"/>
            <a:ext cx="45000" cy="40233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2121408"/>
            <a:ext cx="3236976" cy="3803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0" i="0">
                <a:solidFill>
                  <a:srgbClr val="1A1A2E"/>
                </a:solidFill>
                <a:latin typeface="Noto Sans TC"/>
              </a:rPr>
              <a:t>🎯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A1A2E"/>
                </a:solidFill>
                <a:latin typeface="Noto Sans TC"/>
              </a:rPr>
              <a:t>不是取代員工，是幫你把力氣留給該用腦的地方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Noto Sans TC"/>
              </a:rPr>
              <a:t>它不搶判斷，只接走重複跟瑣事——讓你跟員工都能把時間留在真正該花腦力的決定上，不是被瑣事一直拖著走。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28655" y="22860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Noto Sans TC"/>
              </a:rPr>
              <a:t>03 /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029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1A1A2E"/>
                </a:solidFill>
                <a:latin typeface="Noto Sans TC"/>
              </a:rPr>
              <a:t>數位員工</a:t>
            </a:r>
            <a:r>
              <a:rPr sz="3000" b="1" i="0">
                <a:solidFill>
                  <a:srgbClr val="7C3AED"/>
                </a:solidFill>
                <a:latin typeface="Noto Sans TC"/>
              </a:rPr>
              <a:t>實際上能做什麼？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10029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 i="0">
                <a:solidFill>
                  <a:srgbClr val="64748B"/>
                </a:solidFill>
                <a:latin typeface="Noto Sans TC"/>
              </a:rPr>
              <a:t>不跟你比較市面上的工具清單——你現在看的這份投影片，就是今天現場正在發生的證據。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11002975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59"/>
            <a:ext cx="457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1A1A2E"/>
                </a:solidFill>
                <a:latin typeface="Noto Sans TC"/>
              </a:rP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65959"/>
            <a:ext cx="102714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 i="0">
                <a:solidFill>
                  <a:srgbClr val="94A3B8"/>
                </a:solidFill>
                <a:latin typeface="Noto Sans TC"/>
              </a:rPr>
              <a:t>記得整段脈絡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E293B"/>
                </a:solidFill>
                <a:latin typeface="Noto Sans TC"/>
              </a:rPr>
              <a:t>從封面改字、換圖，到後面一路加頁、調頁碼，中間沒有一次要你重講一遍「我要的是什麼」——它自己記得。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862071"/>
            <a:ext cx="11002975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53511"/>
            <a:ext cx="457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1A1A2E"/>
                </a:solidFill>
                <a:latin typeface="Noto Sans TC"/>
              </a:rPr>
              <a:t>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953511"/>
            <a:ext cx="102714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 i="0">
                <a:solidFill>
                  <a:srgbClr val="94A3B8"/>
                </a:solidFill>
                <a:latin typeface="Noto Sans TC"/>
              </a:rPr>
              <a:t>聽得懂「换個角度重來」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E293B"/>
                </a:solidFill>
                <a:latin typeface="Noto Sans TC"/>
              </a:rPr>
              <a:t>一句「你有站在業主角度想嗎？」，它直接把整頁文字從介紹功能，改寫成對著台下的人說話——不用你逐句改稿。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849623"/>
            <a:ext cx="11002975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41063"/>
            <a:ext cx="457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1A1A2E"/>
                </a:solidFill>
                <a:latin typeface="Noto Sans TC"/>
              </a:rPr>
              <a:t>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941063"/>
            <a:ext cx="102714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 i="0">
                <a:solidFill>
                  <a:srgbClr val="94A3B8"/>
                </a:solidFill>
                <a:latin typeface="Noto Sans TC"/>
              </a:rPr>
              <a:t>直接動手，不是給建議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E293B"/>
                </a:solidFill>
                <a:latin typeface="Noto Sans TC"/>
              </a:rPr>
              <a:t>你不用打開檔案自己編輯——它自己新增頁面、調整順序、同步所有頁碼，你只需要說要什麼、看結果。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882895"/>
            <a:ext cx="11002975" cy="82296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4956047"/>
            <a:ext cx="36576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1A1A2E"/>
                </a:solidFill>
                <a:latin typeface="Noto Sans TC"/>
              </a:rPr>
              <a:t>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956047"/>
            <a:ext cx="10225735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 i="0">
                <a:solidFill>
                  <a:srgbClr val="15803D"/>
                </a:solidFill>
                <a:latin typeface="Noto Sans TC"/>
              </a:rPr>
              <a:t>這不是功能清單，是你剛剛親身經歷的過程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1A1A2E"/>
                </a:solidFill>
                <a:latin typeface="Noto Sans TC"/>
              </a:rPr>
              <a:t>你正在看的這份投影片，從第一頁到現在，全部由 MUSEON 現場跟你來回做出來——這就是「數位員工」最直接的答案。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28655" y="22860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Noto Sans TC"/>
              </a:rPr>
              <a:t>04 /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029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1A1A2E"/>
                </a:solidFill>
                <a:latin typeface="Noto Sans TC"/>
              </a:rPr>
              <a:t>系統 vs 數位員工</a:t>
            </a:r>
            <a:r>
              <a:rPr sz="3000" b="1" i="0">
                <a:solidFill>
                  <a:srgbClr val="3B82F6"/>
                </a:solidFill>
                <a:latin typeface="Noto Sans TC"/>
              </a:rPr>
              <a:t>分工對照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10029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 i="0">
                <a:solidFill>
                  <a:srgbClr val="64748B"/>
                </a:solidFill>
                <a:latin typeface="Noto Sans TC"/>
              </a:rPr>
              <a:t>不是選擇題，是理解兩者怎麼協作——系統執行規則，數位員工判斷方向。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5486400" cy="3246120"/>
          </a:xfrm>
          <a:prstGeom prst="roundRect">
            <a:avLst>
              <a:gd name="adj" fmla="val 5000"/>
            </a:avLst>
          </a:prstGeom>
          <a:solidFill>
            <a:srgbClr val="E4EFFD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84832"/>
            <a:ext cx="5029200" cy="2916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0" i="0">
                <a:solidFill>
                  <a:srgbClr val="1A1A2E"/>
                </a:solidFill>
                <a:latin typeface="Noto Sans TC"/>
              </a:rPr>
              <a:t>⚙️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1" i="0">
                <a:solidFill>
                  <a:srgbClr val="1D4ED8"/>
                </a:solidFill>
                <a:latin typeface="Noto Sans TC"/>
              </a:rPr>
              <a:t>系統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1" i="0">
                <a:solidFill>
                  <a:srgbClr val="0C4A6E"/>
                </a:solidFill>
                <a:latin typeface="Noto Sans TC"/>
              </a:rPr>
              <a:t>「你驅動它」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0" i="0">
                <a:solidFill>
                  <a:srgbClr val="1E40AF"/>
                </a:solidFill>
                <a:latin typeface="Noto Sans TC"/>
              </a:rPr>
              <a:t>你決定規則、輸入資料，系統按部就班執行——就像一部機器，你要先發動它。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50" b="1" i="0">
                <a:solidFill>
                  <a:srgbClr val="1D4ED8"/>
                </a:solidFill>
                <a:latin typeface="Noto Sans TC"/>
              </a:rPr>
              <a:t>主要負責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0C4A6E"/>
                </a:solidFill>
                <a:latin typeface="Noto Sans TC"/>
              </a:rPr>
              <a:t>✓ 執行標準化流程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0C4A6E"/>
                </a:solidFill>
                <a:latin typeface="Noto Sans TC"/>
              </a:rPr>
              <a:t>✓ 計算 &amp; 統計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0C4A6E"/>
                </a:solidFill>
                <a:latin typeface="Noto Sans TC"/>
              </a:rPr>
              <a:t>✓ 資料儲存 &amp; 查詢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0C4A6E"/>
                </a:solidFill>
                <a:latin typeface="Noto Sans TC"/>
              </a:rPr>
              <a:t>✓ 記錄交易痕跡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920240"/>
            <a:ext cx="5486400" cy="3246120"/>
          </a:xfrm>
          <a:prstGeom prst="roundRect">
            <a:avLst>
              <a:gd name="adj" fmla="val 5000"/>
            </a:avLst>
          </a:prstGeom>
          <a:solidFill>
            <a:srgbClr val="F0EAFE"/>
          </a:solidFill>
          <a:ln w="95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084832"/>
            <a:ext cx="5029200" cy="2916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0" i="0">
                <a:solidFill>
                  <a:srgbClr val="1A1A2E"/>
                </a:solidFill>
                <a:latin typeface="Noto Sans TC"/>
              </a:rPr>
              <a:t>👥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1" i="0">
                <a:solidFill>
                  <a:srgbClr val="6D28D9"/>
                </a:solidFill>
                <a:latin typeface="Noto Sans TC"/>
              </a:rPr>
              <a:t>數位員工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1" i="0">
                <a:solidFill>
                  <a:srgbClr val="581C87"/>
                </a:solidFill>
                <a:latin typeface="Noto Sans TC"/>
              </a:rPr>
              <a:t>「它主動接住你」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0" i="0">
                <a:solidFill>
                  <a:srgbClr val="7C3AED"/>
                </a:solidFill>
                <a:latin typeface="Noto Sans TC"/>
              </a:rPr>
              <a:t>記得公司脈絡、自己判斷該做什麼、主動提醒——更像一位有經驗的同事。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50" b="1" i="0">
                <a:solidFill>
                  <a:srgbClr val="6D28D9"/>
                </a:solidFill>
                <a:latin typeface="Noto Sans TC"/>
              </a:rPr>
              <a:t>主要負責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581C87"/>
                </a:solidFill>
                <a:latin typeface="Noto Sans TC"/>
              </a:rPr>
              <a:t>✓ 理解 &amp; 判斷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581C87"/>
                </a:solidFill>
                <a:latin typeface="Noto Sans TC"/>
              </a:rPr>
              <a:t>✓ 跨情境協作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581C87"/>
                </a:solidFill>
                <a:latin typeface="Noto Sans TC"/>
              </a:rPr>
              <a:t>✓ 主動提醒 &amp; 整理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581C87"/>
                </a:solidFill>
                <a:latin typeface="Noto Sans TC"/>
              </a:rPr>
              <a:t>✓ 操作系統達成目標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5349240"/>
            <a:ext cx="11247120" cy="777240"/>
          </a:xfrm>
          <a:prstGeom prst="roundRect">
            <a:avLst>
              <a:gd name="adj" fmla="val 10000"/>
            </a:avLst>
          </a:prstGeom>
          <a:solidFill>
            <a:srgbClr val="FEF6E0"/>
          </a:solidFill>
          <a:ln w="952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5422392"/>
            <a:ext cx="36576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1A1A2E"/>
                </a:solidFill>
                <a:latin typeface="Noto Sans TC"/>
              </a:rPr>
              <a:t>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422392"/>
            <a:ext cx="1046988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 i="0">
                <a:solidFill>
                  <a:srgbClr val="92400E"/>
                </a:solidFill>
                <a:latin typeface="Noto Sans TC"/>
              </a:rPr>
              <a:t>核心概念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78350F"/>
                </a:solidFill>
                <a:latin typeface="Noto Sans TC"/>
              </a:rPr>
              <a:t>數位員工是「系統的駕駛手」——系統只會按既定規則跑，數位員工記得你的目標、判斷該用哪個系統、甚至教員工怎麼用系統。一個懂規則，一個懂目標。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28655" y="22860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Noto Sans TC"/>
              </a:rPr>
              <a:t>05 /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029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1A1A2E"/>
                </a:solidFill>
                <a:latin typeface="Noto Sans TC"/>
              </a:rPr>
              <a:t>先問一句</a:t>
            </a:r>
            <a:r>
              <a:rPr sz="3000" b="1" i="0">
                <a:solidFill>
                  <a:srgbClr val="3B82F6"/>
                </a:solidFill>
                <a:latin typeface="Noto Sans TC"/>
              </a:rPr>
              <a:t>「你卡在哪？」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731520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84247"/>
            <a:ext cx="6858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000" b="1" i="0">
                <a:solidFill>
                  <a:srgbClr val="3B82F6"/>
                </a:solidFill>
                <a:latin typeface="Noto Sans TC"/>
              </a:rPr>
              <a:t>現場提問</a:t>
            </a: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500" b="1" i="0">
                <a:solidFill>
                  <a:srgbClr val="1A1A2E"/>
                </a:solidFill>
                <a:latin typeface="Noto Sans TC"/>
              </a:rPr>
              <a:t>「你現在花最多時間在找資訊、做決策、還是救火執行？」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063240"/>
            <a:ext cx="233172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3063240"/>
            <a:ext cx="45000" cy="26517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3172968"/>
            <a:ext cx="2002536" cy="2432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0" i="0">
                <a:solidFill>
                  <a:srgbClr val="1A1A2E"/>
                </a:solidFill>
                <a:latin typeface="Noto Sans TC"/>
              </a:rPr>
              <a:t>🔎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 i="0">
                <a:solidFill>
                  <a:srgbClr val="1A1A2E"/>
                </a:solidFill>
                <a:latin typeface="Noto Sans TC"/>
              </a:rPr>
              <a:t>找資訊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Noto Sans TC"/>
              </a:rPr>
              <a:t>客戶在電話那頭等，你翻著半年前的 LINE 對話找報價依據，翻到客戶已經不耐煩掛電話——這單可能就飛了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3063240"/>
            <a:ext cx="233172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63240" y="3063240"/>
            <a:ext cx="45000" cy="2651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27832" y="3172968"/>
            <a:ext cx="2002536" cy="2432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0" i="0">
                <a:solidFill>
                  <a:srgbClr val="1A1A2E"/>
                </a:solidFill>
                <a:latin typeface="Noto Sans TC"/>
              </a:rPr>
              <a:t>🧭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 i="0">
                <a:solidFill>
                  <a:srgbClr val="1A1A2E"/>
                </a:solidFill>
                <a:latin typeface="Noto Sans TC"/>
              </a:rPr>
              <a:t>做決策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Noto Sans TC"/>
              </a:rPr>
              <a:t>毛利莫名掉了 3%，你盯著報表想不出是哪個環節，只能先「觀察看看」，結果一觀察又是一個月，錢是月月在流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3063240"/>
            <a:ext cx="233172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32120" y="3063240"/>
            <a:ext cx="45000" cy="26517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96712" y="3172968"/>
            <a:ext cx="2002536" cy="2432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0" i="0">
                <a:solidFill>
                  <a:srgbClr val="1A1A2E"/>
                </a:solidFill>
                <a:latin typeface="Noto Sans TC"/>
              </a:rPr>
              <a:t>🔥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 i="0">
                <a:solidFill>
                  <a:srgbClr val="1A1A2E"/>
                </a:solidFill>
                <a:latin typeface="Noto Sans TC"/>
              </a:rPr>
              <a:t>救火執行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Noto Sans TC"/>
              </a:rPr>
              <a:t>客訴電話一通接一通，員工搞不定只能你自己下場，原本排好的下季規劃又往後延</a:t>
            </a:r>
          </a:p>
        </p:txBody>
      </p:sp>
      <p:pic>
        <p:nvPicPr>
          <p:cNvPr id="15" name="Picture 14" descr="ai-lecture-slides-0730-img02-ope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2331719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28655" y="22860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Noto Sans TC"/>
              </a:rPr>
              <a:t>06 /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029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1A1A2E"/>
                </a:solidFill>
                <a:latin typeface="Noto Sans TC"/>
              </a:rPr>
              <a:t>找資訊</a:t>
            </a:r>
            <a:r>
              <a:rPr sz="3000" b="1" i="0">
                <a:solidFill>
                  <a:srgbClr val="3B82F6"/>
                </a:solidFill>
                <a:latin typeface="Noto Sans TC"/>
              </a:rPr>
              <a:t>卡點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75895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65959"/>
            <a:ext cx="457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1A1A2E"/>
                </a:solidFill>
                <a:latin typeface="Noto Sans TC"/>
              </a:rPr>
              <a:t>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59"/>
            <a:ext cx="6858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 i="0">
                <a:solidFill>
                  <a:srgbClr val="94A3B8"/>
                </a:solidFill>
                <a:latin typeface="Noto Sans TC"/>
              </a:rPr>
              <a:t>情境 × 案例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E293B"/>
                </a:solidFill>
                <a:latin typeface="Noto Sans TC"/>
              </a:rPr>
              <a:t>客戶臨時來電要報價，老闆得先確認過去買過什麼、上次談的條件——但資訊分散在 LINE、Excel、腦子裡。一位老闆得翻半年前對話才敢回覆，客戶已經不耐煩。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044951"/>
            <a:ext cx="7589520" cy="86868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3044951"/>
            <a:ext cx="45000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118103"/>
            <a:ext cx="722376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 i="0">
                <a:solidFill>
                  <a:srgbClr val="DC2626"/>
                </a:solidFill>
                <a:latin typeface="Noto Sans TC"/>
              </a:rPr>
              <a:t>痛點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991B1B"/>
                </a:solidFill>
                <a:latin typeface="Noto Sans TC"/>
              </a:rPr>
              <a:t>不是不知道答案，是答案找太慢——專業判斷力沒問題，卡在資訊散落、調閱效率低。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032503"/>
            <a:ext cx="758952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42231"/>
            <a:ext cx="7132320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000" b="1" i="0">
                <a:solidFill>
                  <a:srgbClr val="3B82F6"/>
                </a:solidFill>
                <a:latin typeface="Noto Sans TC"/>
              </a:rPr>
              <a:t>假設情境</a:t>
            </a: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500" b="1" i="0">
                <a:solidFill>
                  <a:srgbClr val="1A1A2E"/>
                </a:solidFill>
                <a:latin typeface="Noto Sans TC"/>
              </a:rPr>
              <a:t>「如果接起電話的那一秒，AI 就把客戶三年交易紀錄、上次報價、毛利率全部整理好放在你面前」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5129783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EEF4FE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129783"/>
            <a:ext cx="6583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Noto Sans TC"/>
              </a:rPr>
              <a:t>跨國接單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62456" y="5129783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EEF4FE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62456" y="5129783"/>
            <a:ext cx="6583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Noto Sans TC"/>
              </a:rPr>
              <a:t>合約翻譯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30552" y="5129783"/>
            <a:ext cx="758952" cy="310896"/>
          </a:xfrm>
          <a:prstGeom prst="roundRect">
            <a:avLst>
              <a:gd name="adj" fmla="val 50000"/>
            </a:avLst>
          </a:prstGeom>
          <a:solidFill>
            <a:srgbClr val="EEF4FE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30552" y="5129783"/>
            <a:ext cx="7589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Noto Sans TC"/>
              </a:rPr>
              <a:t>客服知識庫</a:t>
            </a:r>
          </a:p>
        </p:txBody>
      </p:sp>
      <p:pic>
        <p:nvPicPr>
          <p:cNvPr id="18" name="Picture 17" descr="ai-lecture-slides-0730-img03-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2423160"/>
            <a:ext cx="301752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28655" y="22860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Noto Sans TC"/>
              </a:rPr>
              <a:t>07 /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029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1A1A2E"/>
                </a:solidFill>
                <a:latin typeface="Noto Sans TC"/>
              </a:rPr>
              <a:t>做決策</a:t>
            </a:r>
            <a:r>
              <a:rPr sz="3000" b="1" i="0">
                <a:solidFill>
                  <a:srgbClr val="7C3AED"/>
                </a:solidFill>
                <a:latin typeface="Noto Sans TC"/>
              </a:rPr>
              <a:t>卡點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1874519"/>
            <a:ext cx="75895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60520" y="1965959"/>
            <a:ext cx="457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1A1A2E"/>
                </a:solidFill>
                <a:latin typeface="Noto Sans TC"/>
              </a:rPr>
              <a:t>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965959"/>
            <a:ext cx="6858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 i="0">
                <a:solidFill>
                  <a:srgbClr val="94A3B8"/>
                </a:solidFill>
                <a:latin typeface="Noto Sans TC"/>
              </a:rPr>
              <a:t>情境 × 案例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E293B"/>
                </a:solidFill>
                <a:latin typeface="Noto Sans TC"/>
              </a:rPr>
              <a:t>庫存要不要加、要不要接單、毛利下滑原因不明——這類問題沒有標準答案。一位老闆發現毛利比上季低 3%，猜不出原因，只能「先觀察看看」，一觀察又是一個月。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3044951"/>
            <a:ext cx="7589520" cy="86868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3360" y="3044951"/>
            <a:ext cx="45000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3118103"/>
            <a:ext cx="722376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 i="0">
                <a:solidFill>
                  <a:srgbClr val="DC2626"/>
                </a:solidFill>
                <a:latin typeface="Noto Sans TC"/>
              </a:rPr>
              <a:t>痛點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991B1B"/>
                </a:solidFill>
                <a:latin typeface="Noto Sans TC"/>
              </a:rPr>
              <a:t>決策不是不敢做，是做的時候只有感覺、沒有依據——猜對是運氣，猜錯要更久才發現。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4032503"/>
            <a:ext cx="758952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4142231"/>
            <a:ext cx="7132320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000" b="1" i="0">
                <a:solidFill>
                  <a:srgbClr val="3B82F6"/>
                </a:solidFill>
                <a:latin typeface="Noto Sans TC"/>
              </a:rPr>
              <a:t>假設情境</a:t>
            </a: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500" b="1" i="0">
                <a:solidFill>
                  <a:srgbClr val="1A1A2E"/>
                </a:solidFill>
                <a:latin typeface="Noto Sans TC"/>
              </a:rPr>
              <a:t>「如果晚上十二點 AI 自己發現毛利掉了 3%，明天八點就把原因整理好放在你桌上」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5129783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EEF4FE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5129783"/>
            <a:ext cx="6583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Noto Sans TC"/>
              </a:rPr>
              <a:t>超級幕僚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91456" y="5129783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EF4FE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91456" y="5129783"/>
            <a:ext cx="85953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Noto Sans TC"/>
              </a:rPr>
              <a:t>會議筆記分析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5129783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EEF4FE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5129783"/>
            <a:ext cx="6583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Noto Sans TC"/>
              </a:rPr>
              <a:t>提案草擬</a:t>
            </a:r>
          </a:p>
        </p:txBody>
      </p:sp>
      <p:pic>
        <p:nvPicPr>
          <p:cNvPr id="18" name="Picture 17" descr="ai-lecture-slides-0730-img04-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423160"/>
            <a:ext cx="301752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28655" y="22860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Noto Sans TC"/>
              </a:rPr>
              <a:t>08 /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029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1A1A2E"/>
                </a:solidFill>
                <a:latin typeface="Noto Sans TC"/>
              </a:rPr>
              <a:t>救火執行</a:t>
            </a:r>
            <a:r>
              <a:rPr sz="3000" b="1" i="0">
                <a:solidFill>
                  <a:srgbClr val="DC2626"/>
                </a:solidFill>
                <a:latin typeface="Noto Sans TC"/>
              </a:rPr>
              <a:t>卡點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75895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65959"/>
            <a:ext cx="457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1A1A2E"/>
                </a:solidFill>
                <a:latin typeface="Noto Sans TC"/>
              </a:rPr>
              <a:t>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59"/>
            <a:ext cx="6858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 i="0">
                <a:solidFill>
                  <a:srgbClr val="94A3B8"/>
                </a:solidFill>
                <a:latin typeface="Noto Sans TC"/>
              </a:rPr>
              <a:t>情境 × 案例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E293B"/>
                </a:solidFill>
                <a:latin typeface="Noto Sans TC"/>
              </a:rPr>
              <a:t>客訴、臨時訂單、調度——事情一件件冒出來，真正該做的規劃永遠排最後。一位老闆早上進辦公室先處理客訴、回電話，等有空想下季佈局已經沒力氣，拖了兩個月。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044951"/>
            <a:ext cx="7589520" cy="86868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3044951"/>
            <a:ext cx="45000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118103"/>
            <a:ext cx="722376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 i="0">
                <a:solidFill>
                  <a:srgbClr val="DC2626"/>
                </a:solidFill>
                <a:latin typeface="Noto Sans TC"/>
              </a:rPr>
              <a:t>痛點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991B1B"/>
                </a:solidFill>
                <a:latin typeface="Noto Sans TC"/>
              </a:rPr>
              <a:t>不是不想做長遠規劃，是連喘口氣的時間都被瑣事吃光。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032503"/>
            <a:ext cx="758952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42231"/>
            <a:ext cx="7132320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000" b="1" i="0">
                <a:solidFill>
                  <a:srgbClr val="3B82F6"/>
                </a:solidFill>
                <a:latin typeface="Noto Sans TC"/>
              </a:rPr>
              <a:t>假設情境</a:t>
            </a: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500" b="1" i="0">
                <a:solidFill>
                  <a:srgbClr val="1A1A2E"/>
                </a:solidFill>
                <a:latin typeface="Noto Sans TC"/>
              </a:rPr>
              <a:t>「你在工廠忙的時候，AI 已經幫你接了三張訂單」——不是「AI可以回LINE」，是訂單已經進來了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5129783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EEF4FE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129783"/>
            <a:ext cx="106070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Noto Sans TC"/>
              </a:rPr>
              <a:t>業務開拓自動回應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64792" y="5129783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EF4FE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64792" y="5129783"/>
            <a:ext cx="85953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Noto Sans TC"/>
              </a:rPr>
              <a:t>品管影像辨識</a:t>
            </a:r>
          </a:p>
        </p:txBody>
      </p:sp>
      <p:pic>
        <p:nvPicPr>
          <p:cNvPr id="16" name="Picture 15" descr="ai-lecture-slides-0730-img05-scenario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2423160"/>
            <a:ext cx="301752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28655" y="22860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Noto Sans TC"/>
              </a:rPr>
              <a:t>09 /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029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A1A2E"/>
                </a:solidFill>
                <a:latin typeface="Noto Sans TC"/>
              </a:rPr>
              <a:t>到底需要的是</a:t>
            </a:r>
            <a:r>
              <a:rPr sz="2600" b="1" i="0">
                <a:solidFill>
                  <a:srgbClr val="7C3AED"/>
                </a:solidFill>
                <a:latin typeface="Noto Sans TC"/>
              </a:rPr>
              <a:t>工具、Agent，還是數位員工？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2103120"/>
            <a:ext cx="28346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2834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2000" b="1" i="0">
                <a:solidFill>
                  <a:srgbClr val="1A1A2E"/>
                </a:solidFill>
                <a:latin typeface="Noto Sans TC"/>
              </a:rPr>
              <a:t>ChatGPT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Noto Sans TC"/>
              </a:rPr>
              <a:t>幫你回答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514600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600" b="0" i="0">
                <a:solidFill>
                  <a:srgbClr val="94A3B8"/>
                </a:solidFill>
                <a:latin typeface="Noto Sans TC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2103120"/>
            <a:ext cx="28346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2377440"/>
            <a:ext cx="2834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2000" b="1" i="0">
                <a:solidFill>
                  <a:srgbClr val="1A1A2E"/>
                </a:solidFill>
                <a:latin typeface="Noto Sans TC"/>
              </a:rPr>
              <a:t>Agent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Noto Sans TC"/>
              </a:rPr>
              <a:t>幫你做事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514600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600" b="0" i="0">
                <a:solidFill>
                  <a:srgbClr val="94A3B8"/>
                </a:solidFill>
                <a:latin typeface="Noto Sans T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2103120"/>
            <a:ext cx="2834640" cy="137160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2377440"/>
            <a:ext cx="2834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Noto Sans TC"/>
              </a:rPr>
              <a:t>數位員工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EEE7FC"/>
                </a:solidFill>
                <a:latin typeface="Noto Sans TC"/>
              </a:rPr>
              <a:t>幫你上班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37360" y="4023360"/>
            <a:ext cx="8686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4133088"/>
            <a:ext cx="822960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000" b="1" i="0">
                <a:solidFill>
                  <a:srgbClr val="3B82F6"/>
                </a:solidFill>
                <a:latin typeface="Noto Sans TC"/>
              </a:rPr>
              <a:t>台下心裡話</a:t>
            </a: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500" b="1" i="0">
                <a:solidFill>
                  <a:srgbClr val="1A1A2E"/>
                </a:solidFill>
                <a:latin typeface="Noto Sans TC"/>
              </a:rPr>
              <a:t>「你可能會想，我用 GPT 不就好了？設個 Agent 不就夠了？」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28655" y="22860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Noto Sans TC"/>
              </a:rPr>
              <a:t>10 /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029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1A1A2E"/>
                </a:solidFill>
                <a:latin typeface="Noto Sans TC"/>
              </a:rPr>
              <a:t>誰真的能</a:t>
            </a:r>
            <a:r>
              <a:rPr sz="3000" b="1" i="0">
                <a:solidFill>
                  <a:srgbClr val="7C3AED"/>
                </a:solidFill>
                <a:latin typeface="Noto Sans TC"/>
              </a:rPr>
              <a:t>接住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10029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 i="0">
                <a:solidFill>
                  <a:srgbClr val="64748B"/>
                </a:solidFill>
                <a:latin typeface="Noto Sans TC"/>
              </a:rPr>
              <a:t>不是比誰功能多，是比剛剛三個情境裡，「誰真的能接住」。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965960"/>
          <a:ext cx="10991088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3072384"/>
                <a:gridCol w="3346704"/>
              </a:tblGrid>
              <a:tr h="701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4A3B8"/>
                          </a:solidFill>
                          <a:latin typeface="Noto Sans TC"/>
                        </a:rPr>
                        <a:t>判準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4748B"/>
                          </a:solidFill>
                          <a:latin typeface="Noto Sans TC"/>
                        </a:rPr>
                        <a:t>AI 工具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D4ED8"/>
                          </a:solidFill>
                          <a:latin typeface="Noto Sans TC"/>
                        </a:rPr>
                        <a:t>Agent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D28D9"/>
                          </a:solidFill>
                          <a:latin typeface="Noto Sans TC"/>
                        </a:rPr>
                        <a:t>數位員工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2E"/>
                          </a:solidFill>
                          <a:latin typeface="Noto Sans TC"/>
                        </a:rPr>
                        <a:t>角色</a:t>
                      </a:r>
                    </a:p>
                  </a:txBody>
                  <a:tcPr anchor="ctr" marL="73152" marR="73152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Noto Sans TC"/>
                        </a:rPr>
                        <a:t>萬能聊天視窗，什麼都聊、什麼都不專精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Noto Sans TC"/>
                        </a:rPr>
                        <a:t>綁定單一任務的自動化流程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Noto Sans TC"/>
                        </a:rPr>
                        <a:t>有明確角色，多任務、能協作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2E"/>
                          </a:solidFill>
                          <a:latin typeface="Noto Sans TC"/>
                        </a:rPr>
                        <a:t>懂公司</a:t>
                      </a:r>
                    </a:p>
                  </a:txBody>
                  <a:tcPr anchor="ctr" marL="73152" marR="73152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Noto Sans TC"/>
                        </a:rPr>
                        <a:t>每次都是新對話，不知道公司脈絡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Noto Sans TC"/>
                        </a:rPr>
                        <a:t>只懂自己負責的那一段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Noto Sans TC"/>
                        </a:rPr>
                        <a:t>持續記得公司資料與客戶脈絡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2E"/>
                          </a:solidFill>
                          <a:latin typeface="Noto Sans TC"/>
                        </a:rPr>
                        <a:t>主動性</a:t>
                      </a:r>
                    </a:p>
                  </a:txBody>
                  <a:tcPr anchor="ctr" marL="73152" marR="73152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Noto Sans TC"/>
                        </a:rPr>
                        <a:t>你問它才答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Noto Sans TC"/>
                        </a:rPr>
                        <a:t>條件觸發就動，但不跨情境串接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Noto Sans TC"/>
                        </a:rPr>
                        <a:t>主動整理、提醒、跨情境串接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2E"/>
                          </a:solidFill>
                          <a:latin typeface="Noto Sans TC"/>
                        </a:rPr>
                        <a:t>決策協助</a:t>
                      </a:r>
                    </a:p>
                  </a:txBody>
                  <a:tcPr anchor="ctr" marL="73152" marR="73152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Noto Sans TC"/>
                        </a:rPr>
                        <a:t>能聊，不會持續追蹤排序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Noto Sans TC"/>
                        </a:rPr>
                        <a:t>能跑出單一流程結果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Noto Sans TC"/>
                        </a:rPr>
                        <a:t>標甜頭與代價，讓你「選擇」而非「猜測」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2E"/>
                          </a:solidFill>
                          <a:latin typeface="Noto Sans TC"/>
                        </a:rPr>
                        <a:t>距離感</a:t>
                      </a:r>
                    </a:p>
                  </a:txBody>
                  <a:tcPr anchor="ctr" marL="73152" marR="73152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Noto Sans TC"/>
                        </a:rPr>
                        <a:t>交易關係 — 你問我答，各自站在各自的立場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Noto Sans TC"/>
                        </a:rPr>
                        <a:t>陪伴關係 — 同步而行，但仍是兩個獨立視角在對話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Noto Sans TC"/>
                        </a:rPr>
                        <a:t>視角合一 — 站在你的角度思考並執行，距離感消失，不再是兩個腦袋在對話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28655" y="22860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Noto Sans TC"/>
              </a:rPr>
              <a:t>11 /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029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1A1A2E"/>
                </a:solidFill>
                <a:latin typeface="Noto Sans TC"/>
              </a:rPr>
              <a:t>現在，</a:t>
            </a:r>
            <a:r>
              <a:rPr sz="3000" b="1" i="0">
                <a:solidFill>
                  <a:srgbClr val="DC2626"/>
                </a:solidFill>
                <a:latin typeface="Noto Sans TC"/>
              </a:rPr>
              <a:t>直接讓你看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10029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 i="0">
                <a:solidFill>
                  <a:srgbClr val="64748B"/>
                </a:solidFill>
                <a:latin typeface="Noto Sans TC"/>
              </a:rPr>
              <a:t>剛剛聽的三個情境，現在現場跑一次——不是看結果，是看過程。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365760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965960"/>
            <a:ext cx="45000" cy="19202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075688"/>
            <a:ext cx="3328416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A1A2E"/>
                </a:solidFill>
                <a:latin typeface="Noto Sans TC"/>
              </a:rPr>
              <a:t/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64748B"/>
                </a:solidFill>
                <a:latin typeface="Noto Sans TC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075688"/>
            <a:ext cx="3328416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 i="0">
                <a:solidFill>
                  <a:srgbClr val="1D4ED8"/>
                </a:solidFill>
                <a:latin typeface="Noto Sans TC"/>
              </a:rPr>
              <a:t>找資訊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A1A2E"/>
                </a:solidFill>
                <a:latin typeface="Noto Sans TC"/>
              </a:rPr>
              <a:t>🧠  即時記憶回溯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Noto Sans TC"/>
              </a:rPr>
              <a:t>現場問一句「我們之前聊過關於___的內容」，從記憶庫精準拉出脈絡——GPT 開新對話沒有這個。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65960"/>
            <a:ext cx="365760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965960"/>
            <a:ext cx="45000" cy="19202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2075688"/>
            <a:ext cx="3328416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A1A2E"/>
                </a:solidFill>
                <a:latin typeface="Noto Sans TC"/>
              </a:rPr>
              <a:t/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64748B"/>
                </a:solidFill>
                <a:latin typeface="Noto Sans TC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075688"/>
            <a:ext cx="3328416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 i="0">
                <a:solidFill>
                  <a:srgbClr val="1D4ED8"/>
                </a:solidFill>
                <a:latin typeface="Noto Sans TC"/>
              </a:rPr>
              <a:t>找資訊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A1A2E"/>
                </a:solidFill>
                <a:latin typeface="Noto Sans TC"/>
              </a:rPr>
              <a:t>🔍  即時網路查證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Noto Sans TC"/>
              </a:rPr>
              <a:t>現場問一個當下的產業／競品問題，查資料後給結論，不是憑訓練資料瞎猜。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965960"/>
            <a:ext cx="365760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965960"/>
            <a:ext cx="4500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2075688"/>
            <a:ext cx="3328416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A1A2E"/>
                </a:solidFill>
                <a:latin typeface="Noto Sans TC"/>
              </a:rPr>
              <a:t/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64748B"/>
                </a:solidFill>
                <a:latin typeface="Noto Sans TC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2075688"/>
            <a:ext cx="3328416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 i="0">
                <a:solidFill>
                  <a:srgbClr val="7C3AED"/>
                </a:solidFill>
                <a:latin typeface="Noto Sans TC"/>
              </a:rPr>
              <a:t>做決策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A1A2E"/>
                </a:solidFill>
                <a:latin typeface="Noto Sans TC"/>
              </a:rPr>
              <a:t>📊  產一份可發佈的分析報告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Noto Sans TC"/>
              </a:rPr>
              <a:t>丟一個假設客戶情境，現場產出結構化報告並發佈到公開網址，全場當場拿手機打開看。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069080"/>
            <a:ext cx="365760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069080"/>
            <a:ext cx="4500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4178808"/>
            <a:ext cx="3328416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A1A2E"/>
                </a:solidFill>
                <a:latin typeface="Noto Sans TC"/>
              </a:rPr>
              <a:t/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64748B"/>
                </a:solidFill>
                <a:latin typeface="Noto Sans TC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178808"/>
            <a:ext cx="3328416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 i="0">
                <a:solidFill>
                  <a:srgbClr val="7C3AED"/>
                </a:solidFill>
                <a:latin typeface="Noto Sans TC"/>
              </a:rPr>
              <a:t>做決策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A1A2E"/>
                </a:solidFill>
                <a:latin typeface="Noto Sans TC"/>
              </a:rPr>
              <a:t>🕵️  盡職調查快篩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Noto Sans TC"/>
              </a:rPr>
              <a:t>丟一間公司名稱或合作案情境，跑出風險／甜頭／代價的結構化判斷，比「憑感覺賭」扎實。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4069080"/>
            <a:ext cx="365760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4069080"/>
            <a:ext cx="45000" cy="19202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4178808"/>
            <a:ext cx="3328416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A1A2E"/>
                </a:solidFill>
                <a:latin typeface="Noto Sans TC"/>
              </a:rPr>
              <a:t/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64748B"/>
                </a:solidFill>
                <a:latin typeface="Noto Sans TC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4178808"/>
            <a:ext cx="3328416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 i="0">
                <a:solidFill>
                  <a:srgbClr val="DC2626"/>
                </a:solidFill>
                <a:latin typeface="Noto Sans TC"/>
              </a:rPr>
              <a:t>救火執行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A1A2E"/>
                </a:solidFill>
                <a:latin typeface="Noto Sans TC"/>
              </a:rPr>
              <a:t>📨  背景派工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AEB6C4"/>
                </a:solidFill>
                <a:latin typeface="Noto Sans TC"/>
              </a:rPr>
              <a:t>現場丟一句複雜指令，秒回「收到」，背景處理完再主動通知結果——不用一直盯著。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28655" y="22860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Noto Sans TC"/>
              </a:rPr>
              <a:t>12 /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029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1A1A2E"/>
                </a:solidFill>
                <a:latin typeface="Noto Sans TC"/>
              </a:rPr>
              <a:t>你不是落後，</a:t>
            </a:r>
            <a:r>
              <a:rPr sz="3000" b="1" i="0">
                <a:solidFill>
                  <a:srgbClr val="3B82F6"/>
                </a:solidFill>
                <a:latin typeface="Noto Sans TC"/>
              </a:rPr>
              <a:t>是還沒開始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10029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 i="0">
                <a:solidFill>
                  <a:srgbClr val="64748B"/>
                </a:solidFill>
                <a:latin typeface="Noto Sans TC"/>
              </a:rPr>
              <a:t>2026 年中小企業實態調查：多數人卡住的不是能力，是不知道從哪裡開始。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920240"/>
            <a:ext cx="45000" cy="1143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29968"/>
            <a:ext cx="3200400" cy="923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2600" b="1" i="0">
                <a:solidFill>
                  <a:srgbClr val="3B82F6"/>
                </a:solidFill>
                <a:latin typeface="Noto Sans TC"/>
              </a:rPr>
              <a:t>12~20%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Noto Sans TC"/>
              </a:rPr>
              <a:t>中小企業已導入 AI，大型企業則是 40%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920240"/>
            <a:ext cx="45000" cy="1143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29968"/>
            <a:ext cx="3200400" cy="923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2600" b="1" i="0">
                <a:solidFill>
                  <a:srgbClr val="7C3AED"/>
                </a:solidFill>
                <a:latin typeface="Noto Sans TC"/>
              </a:rPr>
              <a:t>62%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Noto Sans TC"/>
              </a:rPr>
              <a:t>卡在「不知道從哪裡開始」，不是不想用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92024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83880" y="1920240"/>
            <a:ext cx="45000" cy="1143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029968"/>
            <a:ext cx="3200400" cy="923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2600" b="1" i="0">
                <a:solidFill>
                  <a:srgbClr val="DC2626"/>
                </a:solidFill>
                <a:latin typeface="Noto Sans TC"/>
              </a:rPr>
              <a:t>87%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Noto Sans TC"/>
              </a:rPr>
              <a:t>導入 AI 的目的是「省時間」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24612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246120"/>
            <a:ext cx="45000" cy="19202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355848"/>
            <a:ext cx="3236976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A1A2E"/>
                </a:solidFill>
                <a:latin typeface="Noto Sans TC"/>
              </a:rPr>
              <a:t/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64748B"/>
                </a:solidFill>
                <a:latin typeface="Noto Sans TC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355848"/>
            <a:ext cx="3236976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 i="0">
                <a:solidFill>
                  <a:srgbClr val="1D4ED8"/>
                </a:solidFill>
                <a:latin typeface="Noto Sans TC"/>
              </a:rPr>
              <a:t>找資訊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1A1A2E"/>
                </a:solidFill>
                <a:latin typeface="Noto Sans TC"/>
              </a:rPr>
              <a:t>🔍  你現在還在翻半年前的紀錄找答案嗎？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Noto Sans TC"/>
              </a:rPr>
              <a:t>最常見的起手式是文件整理與資料自動化（38%）——先把這一步交給數位員工，是多數企業真正的第一步。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24612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3246120"/>
            <a:ext cx="4500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3355848"/>
            <a:ext cx="3236976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A1A2E"/>
                </a:solidFill>
                <a:latin typeface="Noto Sans TC"/>
              </a:rPr>
              <a:t/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64748B"/>
                </a:solidFill>
                <a:latin typeface="Noto Sans TC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3355848"/>
            <a:ext cx="3236976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 i="0">
                <a:solidFill>
                  <a:srgbClr val="7C3AED"/>
                </a:solidFill>
                <a:latin typeface="Noto Sans TC"/>
              </a:rPr>
              <a:t>做決策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1A1A2E"/>
                </a:solidFill>
                <a:latin typeface="Noto Sans TC"/>
              </a:rPr>
              <a:t>📊  判斷常常只能「先觀察看看」嗎？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Noto Sans TC"/>
              </a:rPr>
              <a:t>62% 的企業不是不想用 AI 幫決策，是不知道從哪裡切入——這正是數位員工能先接住的一步。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324612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80" y="3246120"/>
            <a:ext cx="45000" cy="19202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8472" y="3355848"/>
            <a:ext cx="3236976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A1A2E"/>
                </a:solidFill>
                <a:latin typeface="Noto Sans TC"/>
              </a:rPr>
              <a:t/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64748B"/>
                </a:solidFill>
                <a:latin typeface="Noto Sans TC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2" y="3355848"/>
            <a:ext cx="3236976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 i="0">
                <a:solidFill>
                  <a:srgbClr val="DC2626"/>
                </a:solidFill>
                <a:latin typeface="Noto Sans TC"/>
              </a:rPr>
              <a:t>救火執行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1A1A2E"/>
                </a:solidFill>
                <a:latin typeface="Noto Sans TC"/>
              </a:rPr>
              <a:t>🧯  多數時間在處理臨時狀況，而不是往前規劃？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Noto Sans TC"/>
              </a:rPr>
              <a:t>87% 導入 AI 的企業，圖的就是把時間還給該做的事，而不是一直救火。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303520"/>
            <a:ext cx="11002975" cy="59436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5376672"/>
            <a:ext cx="36576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1A1A2E"/>
                </a:solidFill>
                <a:latin typeface="Noto Sans TC"/>
              </a:rPr>
              <a:t>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376672"/>
            <a:ext cx="102257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 i="0">
                <a:solidFill>
                  <a:srgbClr val="15803D"/>
                </a:solidFill>
                <a:latin typeface="Noto Sans TC"/>
              </a:rPr>
              <a:t>不孤單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1A1A2E"/>
                </a:solidFill>
                <a:latin typeface="Noto Sans TC"/>
              </a:rPr>
              <a:t>八成中小企業還沒真正導入 AI——卡點不是能力不夠，是還沒找到起點。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943600"/>
            <a:ext cx="110029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4A3B8"/>
                </a:solidFill>
                <a:latin typeface="Noto Sans TC"/>
              </a:rPr>
              <a:t>資料來源：獨立行政法人中小企業基盤整備機構《中小企業のAI等の利活用に係る実態調査》（2026年3月）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28655" y="22860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Noto Sans TC"/>
              </a:rPr>
              <a:t>13 /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029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1A1A2E"/>
                </a:solidFill>
                <a:latin typeface="Noto Sans TC"/>
              </a:rPr>
              <a:t>數位員工</a:t>
            </a:r>
            <a:r>
              <a:rPr sz="3000" b="1" i="0">
                <a:solidFill>
                  <a:srgbClr val="3B82F6"/>
                </a:solidFill>
                <a:latin typeface="Noto Sans TC"/>
              </a:rPr>
              <a:t>為什麼能工作？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10029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 i="0">
                <a:solidFill>
                  <a:srgbClr val="64748B"/>
                </a:solidFill>
                <a:latin typeface="Noto Sans TC"/>
              </a:rPr>
              <a:t>不是一個模型全包，是三層拼起來——思考、動手、記得——才撐得住一個真正能上班的角色。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548640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45000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984247"/>
            <a:ext cx="5157216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0" i="0">
                <a:solidFill>
                  <a:srgbClr val="1A1A2E"/>
                </a:solidFill>
                <a:latin typeface="Noto Sans TC"/>
              </a:rPr>
              <a:t>🧠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A1A2E"/>
                </a:solidFill>
                <a:latin typeface="Noto Sans TC"/>
              </a:rPr>
              <a:t>思考型 SKILL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Noto Sans TC"/>
              </a:rPr>
              <a:t>判斷、分析、策略推演——負責「該怎麼做」。就像今天示範裡的盡職調查快篩、報告結構化分析，看不見過程，但每個決策背後都是它在跑。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874519"/>
            <a:ext cx="548640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874519"/>
            <a:ext cx="45000" cy="15544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984247"/>
            <a:ext cx="5157216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0" i="0">
                <a:solidFill>
                  <a:srgbClr val="1A1A2E"/>
                </a:solidFill>
                <a:latin typeface="Noto Sans TC"/>
              </a:rPr>
              <a:t>🛠️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A1A2E"/>
                </a:solidFill>
                <a:latin typeface="Noto Sans TC"/>
              </a:rPr>
              <a:t>工具型 SKILL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Noto Sans TC"/>
              </a:rPr>
              <a:t>接上你原本在用的工具動手做——負責「真的去做」。查資料、發佈網頁、串起表單或系統，思考型 SKILL 想清楚之後，交給它執行落地。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611879"/>
            <a:ext cx="54864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03319"/>
            <a:ext cx="457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1A1A2E"/>
                </a:solidFill>
                <a:latin typeface="Noto Sans TC"/>
              </a:rPr>
              <a:t>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703319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 i="0">
                <a:solidFill>
                  <a:srgbClr val="94A3B8"/>
                </a:solidFill>
                <a:latin typeface="Noto Sans TC"/>
              </a:rPr>
              <a:t>工作流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E293B"/>
                </a:solidFill>
                <a:latin typeface="Noto Sans TC"/>
              </a:rPr>
              <a:t>先思考判斷該做什麼，再交給工具動手，做完回頭檢查結果——像今天現場做投影片，一路都是這個循環。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611879"/>
            <a:ext cx="54864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703319"/>
            <a:ext cx="457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1A1A2E"/>
                </a:solidFill>
                <a:latin typeface="Noto Sans TC"/>
              </a:rPr>
              <a:t>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703319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 i="0">
                <a:solidFill>
                  <a:srgbClr val="94A3B8"/>
                </a:solidFill>
                <a:latin typeface="Noto Sans TC"/>
              </a:rPr>
              <a:t>記憶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E293B"/>
                </a:solidFill>
                <a:latin typeface="Noto Sans TC"/>
              </a:rPr>
              <a:t>不是做完就砍掉重練——它記得你的公司脈絡、上次的決定，下一次接著疊加，不是每次都從零開始。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754879"/>
            <a:ext cx="11247120" cy="82296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4828031"/>
            <a:ext cx="36576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1A1A2E"/>
                </a:solidFill>
                <a:latin typeface="Noto Sans TC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828031"/>
            <a:ext cx="1046988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 i="0">
                <a:solidFill>
                  <a:srgbClr val="15803D"/>
                </a:solidFill>
                <a:latin typeface="Noto Sans TC"/>
              </a:rPr>
              <a:t>MUSEON 就是這樣運作的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1A1A2E"/>
                </a:solidFill>
                <a:latin typeface="Noto Sans TC"/>
              </a:rPr>
              <a:t>今天這份投影片，從第一頁到現在，就是思考型 SKILL 判斷方向、工具型 SKILL 動手改頁、工作流串起每一步、記憶讓它記得你要什麼——現場跑出來的，不是預錄的 demo。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28655" y="22860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Noto Sans TC"/>
              </a:rPr>
              <a:t>14 /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029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1A1A2E"/>
                </a:solidFill>
                <a:latin typeface="Noto Sans TC"/>
              </a:rPr>
              <a:t>怎麼</a:t>
            </a:r>
            <a:r>
              <a:rPr sz="3000" b="1" i="0">
                <a:solidFill>
                  <a:srgbClr val="3B82F6"/>
                </a:solidFill>
                <a:latin typeface="Noto Sans TC"/>
              </a:rPr>
              <a:t>做出一位數位員工？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10029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 i="0">
                <a:solidFill>
                  <a:srgbClr val="64748B"/>
                </a:solidFill>
                <a:latin typeface="Noto Sans TC"/>
              </a:rPr>
              <a:t>不是寫程式，是把「怎麼判斷、怎麼做」講清楚——這件事本身，也是數位員工能幫你做的。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548640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45000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984247"/>
            <a:ext cx="5157216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0" i="0">
                <a:solidFill>
                  <a:srgbClr val="1A1A2E"/>
                </a:solidFill>
                <a:latin typeface="Noto Sans TC"/>
              </a:rPr>
              <a:t>📝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A1A2E"/>
                </a:solidFill>
                <a:latin typeface="Noto Sans TC"/>
              </a:rPr>
              <a:t>製作 SKILL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Noto Sans TC"/>
              </a:rPr>
              <a:t>寫一份說明書，不是寫程式：目標是什麼、參考什麼資料、遇到什麼情況要怎麼處理、做完長什麼樣子算對。AI 讀懂這份說明書，就照著判斷或動手。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874519"/>
            <a:ext cx="548640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874519"/>
            <a:ext cx="45000" cy="15544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984247"/>
            <a:ext cx="5157216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0" i="0">
                <a:solidFill>
                  <a:srgbClr val="1A1A2E"/>
                </a:solidFill>
                <a:latin typeface="Noto Sans TC"/>
              </a:rPr>
              <a:t>🔗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A1A2E"/>
                </a:solidFill>
                <a:latin typeface="Noto Sans TC"/>
              </a:rPr>
              <a:t>製作工作流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Noto Sans TC"/>
              </a:rPr>
              <a:t>把多個 SKILL 串成一條線：先做什麼、後做什麼、誰的產出接誰的輸入、卡住了要停下來問人還是繼續往下走。工作流決定的是順序跟交接，不是單一步驟怎麼做。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611879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03319"/>
            <a:ext cx="457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1A1A2E"/>
                </a:solidFill>
                <a:latin typeface="Noto Sans TC"/>
              </a:rPr>
              <a:t>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703319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 i="0">
                <a:solidFill>
                  <a:srgbClr val="94A3B8"/>
                </a:solidFill>
                <a:latin typeface="Noto Sans TC"/>
              </a:rPr>
              <a:t>從一件小事開始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E293B"/>
                </a:solidFill>
                <a:latin typeface="Noto Sans TC"/>
              </a:rPr>
              <a:t>先讓它把一件小事做對，再慢慢往上疊——今天做這份投影片的過程，也是從「找資料」這個小 SKILL 開始，一步步疊出現在這一整份。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709159"/>
            <a:ext cx="11247120" cy="86868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4782311"/>
            <a:ext cx="36576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1A1A2E"/>
                </a:solidFill>
                <a:latin typeface="Noto Sans TC"/>
              </a:rPr>
              <a:t>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782311"/>
            <a:ext cx="1046988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 i="0">
                <a:solidFill>
                  <a:srgbClr val="15803D"/>
                </a:solidFill>
                <a:latin typeface="Noto Sans TC"/>
              </a:rPr>
              <a:t>你不用自己寫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1A1A2E"/>
                </a:solidFill>
                <a:latin typeface="Noto Sans TC"/>
              </a:rPr>
              <a:t>你只要講清楚「你要什麼、卡在哪」——寫 SKILL、串工作流這件事，本身也是數位員工能接手的工作，不用你自己動手寫程式。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28655" y="22860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Noto Sans TC"/>
              </a:rPr>
              <a:t>15 /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029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1A1A2E"/>
                </a:solidFill>
                <a:latin typeface="Noto Sans TC"/>
              </a:rPr>
              <a:t>數位員工</a:t>
            </a:r>
            <a:r>
              <a:rPr sz="3000" b="1" i="0">
                <a:solidFill>
                  <a:srgbClr val="3B82F6"/>
                </a:solidFill>
                <a:latin typeface="Noto Sans TC"/>
              </a:rPr>
              <a:t>能做哪些事？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10029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 i="0">
                <a:solidFill>
                  <a:srgbClr val="64748B"/>
                </a:solidFill>
                <a:latin typeface="Noto Sans TC"/>
              </a:rPr>
              <a:t>不是抽象能力清單——這些都是 MUSEON 真實做過、正在做的事情。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65760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45000" cy="1600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984247"/>
            <a:ext cx="3328416" cy="1380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0" i="0">
                <a:solidFill>
                  <a:srgbClr val="1A1A2E"/>
                </a:solidFill>
                <a:latin typeface="Noto Sans TC"/>
              </a:rPr>
              <a:t>📊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1A1A2E"/>
                </a:solidFill>
                <a:latin typeface="Noto Sans TC"/>
              </a:rPr>
              <a:t>報表與數據整理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Noto Sans TC"/>
              </a:rPr>
              <a:t>把分散在 Excel、LINE 對話裡的數字，整理成一份結構化報表，現場產出、直接發佈到公開網址——就是第 11 頁 demo 那份。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74519"/>
            <a:ext cx="365760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874519"/>
            <a:ext cx="45000" cy="1600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1984247"/>
            <a:ext cx="3328416" cy="1380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0" i="0">
                <a:solidFill>
                  <a:srgbClr val="1A1A2E"/>
                </a:solidFill>
                <a:latin typeface="Noto Sans TC"/>
              </a:rPr>
              <a:t>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1A1A2E"/>
                </a:solidFill>
                <a:latin typeface="Noto Sans TC"/>
              </a:rPr>
              <a:t>財務／毛利分析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Noto Sans TC"/>
              </a:rPr>
              <a:t>自動比對每月毛利變化，抓出下滑的環節，隔天早上把原因整理好放在桌上，不用你自己盯著報表找異常——其他客戶專案中已實際執行過，不是本次 demo 展示的項目。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65760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75320" y="1874519"/>
            <a:ext cx="45000" cy="1600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984247"/>
            <a:ext cx="3328416" cy="1380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0" i="0">
                <a:solidFill>
                  <a:srgbClr val="1A1A2E"/>
                </a:solidFill>
                <a:latin typeface="Noto Sans TC"/>
              </a:rPr>
              <a:t>📣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1A1A2E"/>
                </a:solidFill>
                <a:latin typeface="Noto Sans TC"/>
              </a:rPr>
              <a:t>行銷提案／文案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Noto Sans TC"/>
              </a:rPr>
              <a:t>從產品定位到客群語言，一次產出提案初稿與文案，你調整方向就好，不用從零開始寫——同樣是其他客戶專案中實際交付過的成果。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11879"/>
            <a:ext cx="365760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611879"/>
            <a:ext cx="45000" cy="1600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721607"/>
            <a:ext cx="3328416" cy="1380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0" i="0">
                <a:solidFill>
                  <a:srgbClr val="1A1A2E"/>
                </a:solidFill>
                <a:latin typeface="Noto Sans TC"/>
              </a:rPr>
              <a:t>🕵️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1A1A2E"/>
                </a:solidFill>
                <a:latin typeface="Noto Sans TC"/>
              </a:rPr>
              <a:t>盡職調查快篩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Noto Sans TC"/>
              </a:rPr>
              <a:t>丟一個合作對象名稱或案件情境，跑出風險／甜頭／代價的結構化判斷，比「憑感覺賭」扎實——第 11 頁已現場示範。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611879"/>
            <a:ext cx="365760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3611879"/>
            <a:ext cx="45000" cy="1600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2" y="3721607"/>
            <a:ext cx="3328416" cy="1380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0" i="0">
                <a:solidFill>
                  <a:srgbClr val="1A1A2E"/>
                </a:solidFill>
                <a:latin typeface="Noto Sans TC"/>
              </a:rPr>
              <a:t>🔧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1A1A2E"/>
                </a:solidFill>
                <a:latin typeface="Noto Sans TC"/>
              </a:rPr>
              <a:t>版本迭代與內容維護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Noto Sans TC"/>
              </a:rPr>
              <a:t>一頁一頁改文件、換順序、加內容，每次改完自己檢查有沒有跑版、頁碼對不對——就是這份投影片今天被改了十幾次，全程都沒出錯的原因。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3611879"/>
            <a:ext cx="365760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5320" y="3611879"/>
            <a:ext cx="45000" cy="1600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9912" y="3721607"/>
            <a:ext cx="3328416" cy="1380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0" i="0">
                <a:solidFill>
                  <a:srgbClr val="1A1A2E"/>
                </a:solidFill>
                <a:latin typeface="Noto Sans TC"/>
              </a:rPr>
              <a:t>🎨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1A1A2E"/>
                </a:solidFill>
                <a:latin typeface="Noto Sans TC"/>
              </a:rPr>
              <a:t>簡報／文件現場製作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Noto Sans TC"/>
              </a:rPr>
              <a:t>你現在看的這份投影片，從封面到現在每一頁的增刪調整，全部由 MUSEON 即時完成——不是預錄的 demo。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486399"/>
            <a:ext cx="11002975" cy="6858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5559551"/>
            <a:ext cx="365760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1A1A2E"/>
                </a:solidFill>
                <a:latin typeface="Noto Sans TC"/>
              </a:rPr>
              <a:t>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559551"/>
            <a:ext cx="10225735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 i="0">
                <a:solidFill>
                  <a:srgbClr val="15803D"/>
                </a:solidFill>
                <a:latin typeface="Noto Sans TC"/>
              </a:rPr>
              <a:t>這不是功能清單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1A1A2E"/>
                </a:solidFill>
                <a:latin typeface="Noto Sans TC"/>
              </a:rPr>
              <a:t>這份投影片本身，就是數位員工從頭到尾參與完成的其中一項成果——你今天看到的每一頁，都是證據。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28655" y="22860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Noto Sans TC"/>
              </a:rPr>
              <a:t>16 /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029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1A1A2E"/>
                </a:solidFill>
                <a:latin typeface="Noto Sans TC"/>
              </a:rPr>
              <a:t>現場</a:t>
            </a:r>
            <a:r>
              <a:rPr sz="3000" b="1" i="0">
                <a:solidFill>
                  <a:srgbClr val="7C3AED"/>
                </a:solidFill>
                <a:latin typeface="Noto Sans TC"/>
              </a:rPr>
              <a:t>快問快答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54480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512064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1A1A2E"/>
                </a:solidFill>
                <a:latin typeface="Noto Sans TC"/>
              </a:rPr>
              <a:t>1   你現在對 AI 的使用經驗比較接近哪一種？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7C3AED"/>
                </a:solidFill>
                <a:latin typeface="Noto Sans TC"/>
              </a:rPr>
              <a:t>A  </a:t>
            </a:r>
            <a:r>
              <a:rPr sz="1200" b="0" i="0">
                <a:solidFill>
                  <a:srgbClr val="475569"/>
                </a:solidFill>
                <a:latin typeface="Noto Sans TC"/>
              </a:rPr>
              <a:t>幾乎沒用過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7C3AED"/>
                </a:solidFill>
                <a:latin typeface="Noto Sans TC"/>
              </a:rPr>
              <a:t>B  </a:t>
            </a:r>
            <a:r>
              <a:rPr sz="1200" b="0" i="0">
                <a:solidFill>
                  <a:srgbClr val="475569"/>
                </a:solidFill>
                <a:latin typeface="Noto Sans TC"/>
              </a:rPr>
              <a:t>會用但每次要交代背景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7C3AED"/>
                </a:solidFill>
                <a:latin typeface="Noto Sans TC"/>
              </a:rPr>
              <a:t>C  </a:t>
            </a:r>
            <a:r>
              <a:rPr sz="1200" b="0" i="0">
                <a:solidFill>
                  <a:srgbClr val="475569"/>
                </a:solidFill>
                <a:latin typeface="Noto Sans TC"/>
              </a:rPr>
              <a:t>已用某種自動化流程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7C3AED"/>
                </a:solidFill>
                <a:latin typeface="Noto Sans TC"/>
              </a:rPr>
              <a:t>D  </a:t>
            </a:r>
            <a:r>
              <a:rPr sz="1200" b="0" i="0">
                <a:solidFill>
                  <a:srgbClr val="475569"/>
                </a:solidFill>
                <a:latin typeface="Noto Sans TC"/>
              </a:rPr>
              <a:t>已有類似數位員工在跑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554480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691640"/>
            <a:ext cx="512064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1A1A2E"/>
                </a:solidFill>
                <a:latin typeface="Noto Sans TC"/>
              </a:rPr>
              <a:t>2   三個情境裡，哪一個最貼近你？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7C3AED"/>
                </a:solidFill>
                <a:latin typeface="Noto Sans TC"/>
              </a:rPr>
              <a:t>A  </a:t>
            </a:r>
            <a:r>
              <a:rPr sz="1200" b="0" i="0">
                <a:solidFill>
                  <a:srgbClr val="475569"/>
                </a:solidFill>
                <a:latin typeface="Noto Sans TC"/>
              </a:rPr>
              <a:t>找資訊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7C3AED"/>
                </a:solidFill>
                <a:latin typeface="Noto Sans TC"/>
              </a:rPr>
              <a:t>B  </a:t>
            </a:r>
            <a:r>
              <a:rPr sz="1200" b="0" i="0">
                <a:solidFill>
                  <a:srgbClr val="475569"/>
                </a:solidFill>
                <a:latin typeface="Noto Sans TC"/>
              </a:rPr>
              <a:t>做決策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7C3AED"/>
                </a:solidFill>
                <a:latin typeface="Noto Sans TC"/>
              </a:rPr>
              <a:t>C  </a:t>
            </a:r>
            <a:r>
              <a:rPr sz="1200" b="0" i="0">
                <a:solidFill>
                  <a:srgbClr val="475569"/>
                </a:solidFill>
                <a:latin typeface="Noto Sans TC"/>
              </a:rPr>
              <a:t>救火執行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069080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206240"/>
            <a:ext cx="512064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1A1A2E"/>
                </a:solidFill>
                <a:latin typeface="Noto Sans TC"/>
              </a:rPr>
              <a:t>3   聽到「數位員工」，第一反應是？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7C3AED"/>
                </a:solidFill>
                <a:latin typeface="Noto Sans TC"/>
              </a:rPr>
              <a:t>A  </a:t>
            </a:r>
            <a:r>
              <a:rPr sz="1200" b="0" i="0">
                <a:solidFill>
                  <a:srgbClr val="475569"/>
                </a:solidFill>
                <a:latin typeface="Noto Sans TC"/>
              </a:rPr>
              <a:t>好奇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7C3AED"/>
                </a:solidFill>
                <a:latin typeface="Noto Sans TC"/>
              </a:rPr>
              <a:t>B  </a:t>
            </a:r>
            <a:r>
              <a:rPr sz="1200" b="0" i="0">
                <a:solidFill>
                  <a:srgbClr val="475569"/>
                </a:solidFill>
                <a:latin typeface="Noto Sans TC"/>
              </a:rPr>
              <a:t>懷疑，跟 GPT/Agent 差不多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7C3AED"/>
                </a:solidFill>
                <a:latin typeface="Noto Sans TC"/>
              </a:rPr>
              <a:t>C  </a:t>
            </a:r>
            <a:r>
              <a:rPr sz="1200" b="0" i="0">
                <a:solidFill>
                  <a:srgbClr val="475569"/>
                </a:solidFill>
                <a:latin typeface="Noto Sans TC"/>
              </a:rPr>
              <a:t>擔心取代員工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7C3AED"/>
                </a:solidFill>
                <a:latin typeface="Noto Sans TC"/>
              </a:rPr>
              <a:t>D  </a:t>
            </a:r>
            <a:r>
              <a:rPr sz="1200" b="0" i="0">
                <a:solidFill>
                  <a:srgbClr val="475569"/>
                </a:solidFill>
                <a:latin typeface="Noto Sans TC"/>
              </a:rPr>
              <a:t>先聽完再說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4069080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4206240"/>
            <a:ext cx="512064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1A1A2E"/>
                </a:solidFill>
                <a:latin typeface="Noto Sans TC"/>
              </a:rPr>
              <a:t>4   如果先解決一個卡點，你會選哪一個？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7C3AED"/>
                </a:solidFill>
                <a:latin typeface="Noto Sans TC"/>
              </a:rPr>
              <a:t>A  </a:t>
            </a:r>
            <a:r>
              <a:rPr sz="1200" b="0" i="0">
                <a:solidFill>
                  <a:srgbClr val="475569"/>
                </a:solidFill>
                <a:latin typeface="Noto Sans TC"/>
              </a:rPr>
              <a:t>找資訊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7C3AED"/>
                </a:solidFill>
                <a:latin typeface="Noto Sans TC"/>
              </a:rPr>
              <a:t>B  </a:t>
            </a:r>
            <a:r>
              <a:rPr sz="1200" b="0" i="0">
                <a:solidFill>
                  <a:srgbClr val="475569"/>
                </a:solidFill>
                <a:latin typeface="Noto Sans TC"/>
              </a:rPr>
              <a:t>做決策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7C3AED"/>
                </a:solidFill>
                <a:latin typeface="Noto Sans TC"/>
              </a:rPr>
              <a:t>C  </a:t>
            </a:r>
            <a:r>
              <a:rPr sz="1200" b="0" i="0">
                <a:solidFill>
                  <a:srgbClr val="475569"/>
                </a:solidFill>
                <a:latin typeface="Noto Sans TC"/>
              </a:rPr>
              <a:t>救火執行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7C3AED"/>
                </a:solidFill>
                <a:latin typeface="Noto Sans TC"/>
              </a:rPr>
              <a:t>D  </a:t>
            </a:r>
            <a:r>
              <a:rPr sz="1200" b="0" i="0">
                <a:solidFill>
                  <a:srgbClr val="475569"/>
                </a:solidFill>
                <a:latin typeface="Noto Sans TC"/>
              </a:rPr>
              <a:t>還不確定，想聊聊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28655" y="22860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Noto Sans TC"/>
              </a:rPr>
              <a:t>17 /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029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1A1A2E"/>
                </a:solidFill>
                <a:latin typeface="Noto Sans TC"/>
              </a:rPr>
              <a:t>你剛剛選的</a:t>
            </a:r>
            <a:r>
              <a:rPr sz="3000" b="1" i="0">
                <a:solidFill>
                  <a:srgbClr val="3B82F6"/>
                </a:solidFill>
                <a:latin typeface="Noto Sans TC"/>
              </a:rPr>
              <a:t>是哪一個？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758952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38528"/>
            <a:ext cx="7132320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000" b="1" i="0">
                <a:solidFill>
                  <a:srgbClr val="3B82F6"/>
                </a:solidFill>
                <a:latin typeface="Noto Sans TC"/>
              </a:rPr>
              <a:t/>
            </a: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500" b="1" i="0">
                <a:solidFill>
                  <a:srgbClr val="1A1A2E"/>
                </a:solidFill>
                <a:latin typeface="Noto Sans TC"/>
              </a:rPr>
              <a:t>「你剛剛選的是哪一個？那就是你現在最該先解決的地方。」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971800"/>
            <a:ext cx="7589520" cy="13716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3044952"/>
            <a:ext cx="365760" cy="1225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1A1A2E"/>
                </a:solidFill>
                <a:latin typeface="Noto Sans TC"/>
              </a:rPr>
              <a:t>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44952"/>
            <a:ext cx="6812280" cy="1225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 i="0">
                <a:solidFill>
                  <a:srgbClr val="15803D"/>
                </a:solidFill>
                <a:latin typeface="Noto Sans TC"/>
              </a:rPr>
              <a:t>權威背書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1A1A2E"/>
                </a:solidFill>
                <a:latin typeface="Noto Sans TC"/>
              </a:rPr>
              <a:t>前 Google 台灣董事長簡立峰：「要從老闆自己開始——先痛苦幾天、親自去玩 ChatGPT 或 Claude，找出哪些瑣事最煩人，再把 AI 帶進公司。」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526280"/>
            <a:ext cx="7589520" cy="9144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4599432"/>
            <a:ext cx="36576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1A1A2E"/>
                </a:solidFill>
                <a:latin typeface="Noto Sans TC"/>
              </a:rPr>
              <a:t>🏷️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99432"/>
            <a:ext cx="681228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 i="0">
                <a:solidFill>
                  <a:srgbClr val="15803D"/>
                </a:solidFill>
                <a:latin typeface="Noto Sans TC"/>
              </a:rPr>
              <a:t>Slogan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1A1A2E"/>
                </a:solidFill>
                <a:latin typeface="Noto Sans TC"/>
              </a:rPr>
              <a:t>不是導入AI，而是替公司找到第一位數位員工。</a:t>
            </a:r>
          </a:p>
        </p:txBody>
      </p:sp>
      <p:pic>
        <p:nvPicPr>
          <p:cNvPr id="12" name="Picture 11" descr="ai-lecture-slides-0730-img07-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2057400"/>
            <a:ext cx="301752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28655" y="22860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Noto Sans TC"/>
              </a:rPr>
              <a:t>18 / 18</a:t>
            </a:r>
          </a:p>
        </p:txBody>
      </p:sp>
      <p:pic>
        <p:nvPicPr>
          <p:cNvPr id="3" name="Picture 2" descr="ai-lecture-slides-0730-img08-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640080"/>
            <a:ext cx="41148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377440"/>
            <a:ext cx="10362895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900" b="1" i="0">
                <a:solidFill>
                  <a:srgbClr val="1A1A2E"/>
                </a:solidFill>
                <a:latin typeface="Noto Sans TC"/>
              </a:rPr>
              <a:t>「以前請一個員工是增加一個人的能力，</a:t>
            </a:r>
          </a:p>
          <a:p>
            <a:pPr algn="ctr">
              <a:lnSpc>
                <a:spcPct val="140000"/>
              </a:lnSpc>
            </a:pPr>
            <a:r>
              <a:rPr sz="1900" b="1" i="0">
                <a:solidFill>
                  <a:srgbClr val="1A1A2E"/>
                </a:solidFill>
                <a:latin typeface="Noto Sans TC"/>
              </a:rPr>
              <a:t>現在多一位AI員工是放大整間公司的能力。」</a:t>
            </a:r>
          </a:p>
          <a:p>
            <a:pPr algn="ctr">
              <a:spcBef>
                <a:spcPts val="1400"/>
              </a:spcBef>
            </a:pPr>
            <a:r>
              <a:rPr sz="1400" b="0" i="0">
                <a:solidFill>
                  <a:srgbClr val="64748B"/>
                </a:solidFill>
                <a:latin typeface="Noto Sans TC"/>
              </a:rPr>
              <a:t>員工做判斷，AI員工做重複 — 謝謝聆聽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09360"/>
            <a:ext cx="11002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4A3B8"/>
                </a:solidFill>
                <a:latin typeface="Noto Sans TC"/>
              </a:rPr>
              <a:t>情境案例為去識別化示範；未來畫面為假設情境口語提醒，非真實統計數據。MUSEON · 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